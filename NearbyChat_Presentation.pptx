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image" Target="../media/image-6-3.png"/><Relationship Id="rId9" Type="http://schemas.openxmlformats.org/officeDocument/2006/relationships/image" Target="../media/image-6-3.png"/><Relationship Id="rId10" Type="http://schemas.openxmlformats.org/officeDocument/2006/relationships/image" Target="../media/image-6-1.png"/><Relationship Id="rId11" Type="http://schemas.openxmlformats.org/officeDocument/2006/relationships/image" Target="../media/image-6-3.png"/><Relationship Id="rId12" Type="http://schemas.openxmlformats.org/officeDocument/2006/relationships/image" Target="../media/image-6-3.png"/><Relationship Id="rId13" Type="http://schemas.openxmlformats.org/officeDocument/2006/relationships/image" Target="../media/image-6-1.png"/><Relationship Id="rId14" Type="http://schemas.openxmlformats.org/officeDocument/2006/relationships/image" Target="../media/image-6-3.png"/><Relationship Id="rId15" Type="http://schemas.openxmlformats.org/officeDocument/2006/relationships/image" Target="../media/image-6-1.png"/><Relationship Id="rId16" Type="http://schemas.openxmlformats.org/officeDocument/2006/relationships/image" Target="../media/image-6-3.png"/><Relationship Id="rId17" Type="http://schemas.openxmlformats.org/officeDocument/2006/relationships/image" Target="../media/image-6-2.png"/><Relationship Id="rId18" Type="http://schemas.openxmlformats.org/officeDocument/2006/relationships/image" Target="../media/image-6-3.png"/><Relationship Id="rId19" Type="http://schemas.openxmlformats.org/officeDocument/2006/relationships/image" Target="../media/image-6-3.png"/><Relationship Id="rId20" Type="http://schemas.openxmlformats.org/officeDocument/2006/relationships/image" Target="../media/image-6-3.png"/><Relationship Id="rId21" Type="http://schemas.openxmlformats.org/officeDocument/2006/relationships/image" Target="../media/image-6-1.png"/><Relationship Id="rId22" Type="http://schemas.openxmlformats.org/officeDocument/2006/relationships/image" Target="../media/image-6-2.png"/><Relationship Id="rId23" Type="http://schemas.openxmlformats.org/officeDocument/2006/relationships/image" Target="../media/image-6-2.png"/><Relationship Id="rId24" Type="http://schemas.openxmlformats.org/officeDocument/2006/relationships/image" Target="../media/image-6-3.png"/><Relationship Id="rId25" Type="http://schemas.openxmlformats.org/officeDocument/2006/relationships/image" Target="../media/image-6-3.png"/><Relationship Id="rId26" Type="http://schemas.openxmlformats.org/officeDocument/2006/relationships/image" Target="../media/image-6-1.png"/><Relationship Id="rId27" Type="http://schemas.openxmlformats.org/officeDocument/2006/relationships/image" Target="../media/image-6-3.png"/><Relationship Id="rId28" Type="http://schemas.openxmlformats.org/officeDocument/2006/relationships/image" Target="../media/image-6-3.png"/><Relationship Id="rId29" Type="http://schemas.openxmlformats.org/officeDocument/2006/relationships/image" Target="../media/image-6-1.png"/><Relationship Id="rId30" Type="http://schemas.openxmlformats.org/officeDocument/2006/relationships/image" Target="../media/image-6-3.png"/><Relationship Id="rId31" Type="http://schemas.openxmlformats.org/officeDocument/2006/relationships/image" Target="../media/image-6-3.png"/><Relationship Id="rId32" Type="http://schemas.openxmlformats.org/officeDocument/2006/relationships/image" Target="../media/image-6-3.png"/><Relationship Id="rId33" Type="http://schemas.openxmlformats.org/officeDocument/2006/relationships/image" Target="../media/image-6-1.png"/><Relationship Id="rId34" Type="http://schemas.openxmlformats.org/officeDocument/2006/relationships/image" Target="../media/image-6-1.png"/><Relationship Id="rId35" Type="http://schemas.openxmlformats.org/officeDocument/2006/relationships/image" Target="../media/image-6-1.png"/><Relationship Id="rId36" Type="http://schemas.openxmlformats.org/officeDocument/2006/relationships/image" Target="../media/image-6-3.png"/><Relationship Id="rId37" Type="http://schemas.openxmlformats.org/officeDocument/2006/relationships/image" Target="../media/image-6-3.png"/><Relationship Id="rId38" Type="http://schemas.openxmlformats.org/officeDocument/2006/relationships/image" Target="../media/image-6-3.png"/><Relationship Id="rId39" Type="http://schemas.openxmlformats.org/officeDocument/2006/relationships/image" Target="../media/image-6-1.png"/><Relationship Id="rId40" Type="http://schemas.openxmlformats.org/officeDocument/2006/relationships/image" Target="../media/image-6-1.png"/><Relationship Id="rId41" Type="http://schemas.openxmlformats.org/officeDocument/2006/relationships/image" Target="../media/image-6-1.png"/><Relationship Id="rId42" Type="http://schemas.openxmlformats.org/officeDocument/2006/relationships/image" Target="../media/image-6-3.png"/><Relationship Id="rId43" Type="http://schemas.openxmlformats.org/officeDocument/2006/relationships/image" Target="../media/image-6-1.png"/><Relationship Id="rId44" Type="http://schemas.openxmlformats.org/officeDocument/2006/relationships/image" Target="../media/image-6-1.png"/><Relationship Id="rId45" Type="http://schemas.openxmlformats.org/officeDocument/2006/relationships/image" Target="../media/image-6-1.png"/><Relationship Id="rId46" Type="http://schemas.openxmlformats.org/officeDocument/2006/relationships/image" Target="../media/image-6-1.png"/><Relationship Id="rId47" Type="http://schemas.openxmlformats.org/officeDocument/2006/relationships/image" Target="../media/image-6-1.png"/><Relationship Id="rId48" Type="http://schemas.openxmlformats.org/officeDocument/2006/relationships/image" Target="../media/image-6-3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5532120"/>
            <a:ext cx="914400" cy="914400"/>
          </a:xfrm>
          <a:prstGeom prst="ellipse">
            <a:avLst/>
          </a:prstGeom>
          <a:ln w="12700">
            <a:solidFill>
              <a:srgbClr val="3A4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120640"/>
            <a:ext cx="1737360" cy="1737360"/>
          </a:xfrm>
          <a:prstGeom prst="ellipse">
            <a:avLst/>
          </a:prstGeom>
          <a:ln w="12700">
            <a:solidFill>
              <a:srgbClr val="3245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709160"/>
            <a:ext cx="2560320" cy="2560320"/>
          </a:xfrm>
          <a:prstGeom prst="ellipse">
            <a:avLst/>
          </a:prstGeom>
          <a:ln w="12700">
            <a:solidFill>
              <a:srgbClr val="2A3B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AD-HOC NETWORKS  ·  APPLIED CRYPTOGRAPHY  ·  CROSS-PLATFORM MOBILE DEV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1792" y="123444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NearbyChat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8961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Cross-Platform Bluetooth-Only Encrypted Direct Messaging System for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Infrastructure-Independent Communication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BLE GATT dual-role architecture with X25519 key agreement and AES-GCM encryption on Android and iOS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2834640" cy="960120"/>
          </a:xfrm>
          <a:prstGeom prst="roundRect">
            <a:avLst>
              <a:gd name="adj" fmla="val 8571"/>
            </a:avLst>
          </a:prstGeom>
          <a:solidFill>
            <a:srgbClr val="223257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4197096"/>
            <a:ext cx="530352" cy="530352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4197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36192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36192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24BCT0155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3977640"/>
            <a:ext cx="2834640" cy="960120"/>
          </a:xfrm>
          <a:prstGeom prst="roundRect">
            <a:avLst>
              <a:gd name="adj" fmla="val 8571"/>
            </a:avLst>
          </a:prstGeom>
          <a:solidFill>
            <a:srgbClr val="223257"/>
          </a:solidFill>
          <a:ln/>
        </p:spPr>
      </p:sp>
      <p:sp>
        <p:nvSpPr>
          <p:cNvPr id="15" name="Shape 13"/>
          <p:cNvSpPr/>
          <p:nvPr/>
        </p:nvSpPr>
        <p:spPr>
          <a:xfrm>
            <a:off x="3995928" y="4197096"/>
            <a:ext cx="530352" cy="530352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6" name="Text 14"/>
          <p:cNvSpPr/>
          <p:nvPr/>
        </p:nvSpPr>
        <p:spPr>
          <a:xfrm>
            <a:off x="3995928" y="41970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90872" y="4142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90872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No. 24BKT0060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Android &amp; iOS (Flutter)     ·     Transport: Bluetooth Low Energy — No Internet Required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Fragility of Centralized Communication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12064" cy="51206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7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777" y="1641897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490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Server Dependency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34440" y="1856232"/>
            <a:ext cx="46634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popular messenger — WhatsApp, Telegram, iMessage, Signal — needs an active internet connection and server infrastructure. Remove either, and communication stops entirely.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12064" cy="51206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1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777" y="164189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490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Failure Scenarios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49440" y="1856232"/>
            <a:ext cx="46634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disasters destroy cellular towers; governments order internet shutdowns; remote sites, exam halls, and secure facilities routinely block connectivity.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12064" cy="51206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2" descr="/home/claude/icons/eye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77" y="3607857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Problem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34440" y="3822192"/>
            <a:ext cx="46634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platforms require phone numbers, email, or national IDs — creating a persistent identity trail that enables mass surveillance.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3474720"/>
            <a:ext cx="512064" cy="512064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9" name="Image 3" descr="/home/claude/icons/mapp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777" y="3607857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49440" y="34564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Communication Paradox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949440" y="3822192"/>
            <a:ext cx="46634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10 meters apart are forced to route their chat through data centers thousands of kilometers away, adding latency and surveillance exposure.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54406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68680" y="54406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unaddressed need: a simple, secure messaging tool that works purely on the radio hardware already in every smartphone — Bluetooth — without account, server, or internet dependency.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Barriers to Infrastructure-Free Messaging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700784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8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1831543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2860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26060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two peers find each other without a directory server or prior contact exchange?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70248" y="14630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4526280" y="1700784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3" name="Image 1" descr="/home/claude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039" y="1831543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2860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26060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secure the channel without a server to verify identity or exchange keys?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991856" y="1463040"/>
            <a:ext cx="3538728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</p:spPr>
      </p:sp>
      <p:sp>
        <p:nvSpPr>
          <p:cNvPr id="17" name="Shape 13"/>
          <p:cNvSpPr/>
          <p:nvPr/>
        </p:nvSpPr>
        <p:spPr>
          <a:xfrm>
            <a:off x="8247888" y="1700784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8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647" y="1831543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88" y="2286000"/>
            <a:ext cx="3026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47888" y="260604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messages survive app restarts and device sleep without a server to cache them?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3375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3593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325880" y="3429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Discovery Without a Directory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325880" y="37033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room of 50 devices, how does Alice’s phone find Bob’s phone without a central registry mapping usernames to addresses?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4599432"/>
            <a:ext cx="365760" cy="36576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8" name="Text 23"/>
          <p:cNvSpPr/>
          <p:nvPr/>
        </p:nvSpPr>
        <p:spPr>
          <a:xfrm>
            <a:off x="77724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325880" y="44348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 Without a Trusted Third Party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325880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usually needs a server to distribute public keys. Here, keys must be exchanged over the same untrusted radio channel being protected.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77240" y="5605272"/>
            <a:ext cx="365760" cy="36576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3" name="Text 28"/>
          <p:cNvSpPr/>
          <p:nvPr/>
        </p:nvSpPr>
        <p:spPr>
          <a:xfrm>
            <a:off x="777240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325880" y="54406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&amp; Cross-Platform BLE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1325880" y="57150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BLE’s ATT MTU limit is 20–517 bytes, but envelopes run 500–2000 bytes; Android and iOS also implement BLE differently at the OS layer.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PART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Systems: Signal &amp; Briar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7885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6916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Messenger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24231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267919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client-server. Uses the Signal Protocol (X3DH key agreement + Double Ratchet for forward secrecy).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33558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6118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Gold-standard encryption, open protocol specification, widely audited.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2960" y="41422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" y="439826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without internet; requires a phone number; server is a single point of failure; useless in disaster zones or censored networks.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5477256"/>
            <a:ext cx="4892040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550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Marlinspike &amp; Perrin (2016), The Double Ratchet Algorithm, Open Whisper Systems.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99632" y="1371600"/>
            <a:ext cx="5440680" cy="5029200"/>
          </a:xfrm>
          <a:prstGeom prst="roundRect">
            <a:avLst>
              <a:gd name="adj" fmla="val 1455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98" y="178856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59752" y="169164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Briar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6473952" y="24231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73952" y="2679192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decentralized mesh over Bluetooth, local Wi-Fi, and Tor.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473952" y="335584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73952" y="361188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servers; store-and-forward routing; strong threat model.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473952" y="41422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73952" y="4398264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battery drain from continuous Tor routing; needs out-of-band contact exchange (QR/link) before first message; Android only, no iOS client.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73952" y="5477256"/>
            <a:ext cx="4892040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73952" y="55504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Bristow, A. (2020), Briar: A P2P Messaging Application for High-Risk Environments.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· PART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Systems: Bridgefy, Meshtastic &amp; AirDrop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38728" cy="5029200"/>
          </a:xfrm>
          <a:prstGeom prst="roundRect">
            <a:avLst>
              <a:gd name="adj" fmla="val 2067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60934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0" descr="/home/claude/icons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011" y="1732971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17627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Bridgefy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86384" y="274320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6384" y="296265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Bluetooth mesh messaging with a proprietary multi-hop protocol.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86384" y="360273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86384" y="382219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or hardware required; deployed during Hong Kong protests (2019) and India shutdowns (2020).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" y="431596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" y="4535424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USENIX audit found no meaningful E2E encryption, MitM vulnerability, and identity tracking via static device IDs.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6384" y="5641848"/>
            <a:ext cx="3081528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570585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Albrecht et al. (2020), IACR ePrint 2020/924.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270248" y="1371600"/>
            <a:ext cx="3538728" cy="5029200"/>
          </a:xfrm>
          <a:prstGeom prst="roundRect">
            <a:avLst>
              <a:gd name="adj" fmla="val 2067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07992" y="160934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1" descr="/home/claude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619" y="1732971"/>
            <a:ext cx="228234" cy="22823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507992" y="217627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Meshtastic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507992" y="274320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507992" y="296265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LoRa radio mesh with a smartphone companion app.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07992" y="360273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507992" y="382219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Multi-kilometer range, extremely low power, fully infrastructure-free.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07992" y="431596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07992" y="4535424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dedicated external LoRa hardware; data rate under 1 kbps; not usable as a standalone smartphone app.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507992" y="5641848"/>
            <a:ext cx="3081528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07992" y="570585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Meshtastic Project (2022), Mesh Routing Algorithm &amp; Protocol Design.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7991856" y="1371600"/>
            <a:ext cx="3538728" cy="5029200"/>
          </a:xfrm>
          <a:prstGeom prst="roundRect">
            <a:avLst>
              <a:gd name="adj" fmla="val 2067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229600" y="1609344"/>
            <a:ext cx="475488" cy="47548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2" name="Image 2" descr="/home/claude/icons/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27" y="1732971"/>
            <a:ext cx="228234" cy="22823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229600" y="2176272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AirDrop / Nearby Share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8229600" y="274320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29600" y="2962656"/>
            <a:ext cx="3081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Platform-native P2P transfer using BLE for discovery and Wi-Fi Direct for transfer.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229600" y="360273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229600" y="3822192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UX, fast transfer speeds, no internet required.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8229600" y="431596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8229600" y="4535424"/>
            <a:ext cx="30815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transfer only, not messaging; iOS-only or Android-only; no cross-platform support or user-controlled keys.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8229600" y="5641848"/>
            <a:ext cx="3081528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229600" y="5705856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Inc. (2023), AirDrop Security Overview.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3" name="Text 38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 of Existing Systems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402336"/>
          </a:xfrm>
          <a:prstGeom prst="roundRect">
            <a:avLst>
              <a:gd name="adj" fmla="val 1136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64252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79464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Bridgefy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94676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Meshtastic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09888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25100" y="1417320"/>
            <a:ext cx="13152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19656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25100" y="1819656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81965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(no internet)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87774" y="1901952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8" name="Image 0" descr="/home/claude/icons/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078" y="1954256"/>
            <a:ext cx="133137" cy="13313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602986" y="1901952"/>
            <a:ext cx="237744" cy="237744"/>
          </a:xfrm>
          <a:prstGeom prst="ellipse">
            <a:avLst/>
          </a:prstGeom>
          <a:solidFill>
            <a:srgbClr val="BE8A1D"/>
          </a:solidFill>
          <a:ln/>
        </p:spPr>
      </p:sp>
      <p:pic>
        <p:nvPicPr>
          <p:cNvPr id="20" name="Image 1" descr="/home/claude/icons/min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290" y="1954256"/>
            <a:ext cx="133137" cy="13313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918198" y="190195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502" y="1954256"/>
            <a:ext cx="133137" cy="133137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233410" y="190195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714" y="1954256"/>
            <a:ext cx="133137" cy="133137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548622" y="190195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6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954256"/>
            <a:ext cx="133137" cy="133137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0863834" y="190195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8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6138" y="1954256"/>
            <a:ext cx="133137" cy="133137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8640" y="2221992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4F8FC"/>
          </a:solidFill>
          <a:ln/>
        </p:spPr>
      </p:sp>
      <p:sp>
        <p:nvSpPr>
          <p:cNvPr id="30" name="Shape 22"/>
          <p:cNvSpPr/>
          <p:nvPr/>
        </p:nvSpPr>
        <p:spPr>
          <a:xfrm>
            <a:off x="10325100" y="2221992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31" name="Text 23"/>
          <p:cNvSpPr/>
          <p:nvPr/>
        </p:nvSpPr>
        <p:spPr>
          <a:xfrm>
            <a:off x="685800" y="222199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hardware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287774" y="230428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3" name="Image 6" descr="/home/claude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0078" y="2356592"/>
            <a:ext cx="133137" cy="133137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5602986" y="230428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5" name="Image 7" descr="/home/claude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5290" y="2356592"/>
            <a:ext cx="133137" cy="13313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918198" y="230428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7" name="Image 8" descr="/home/claude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0502" y="2356592"/>
            <a:ext cx="133137" cy="133137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233410" y="2304288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39" name="Image 9" descr="/home/claude/icons/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5714" y="2356592"/>
            <a:ext cx="133137" cy="133137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548622" y="230428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1" name="Image 10" descr="/home/claude/icons/che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0926" y="2356592"/>
            <a:ext cx="133137" cy="133137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0863834" y="230428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43" name="Image 11" descr="/home/claude/icons/che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16138" y="2356592"/>
            <a:ext cx="133137" cy="133137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548640" y="2624328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45" name="Shape 31"/>
          <p:cNvSpPr/>
          <p:nvPr/>
        </p:nvSpPr>
        <p:spPr>
          <a:xfrm>
            <a:off x="10325100" y="2624328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46" name="Text 32"/>
          <p:cNvSpPr/>
          <p:nvPr/>
        </p:nvSpPr>
        <p:spPr>
          <a:xfrm>
            <a:off x="685800" y="262432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 / phone number</a:t>
            </a:r>
            <a:endParaRPr lang="en-US" sz="1050" dirty="0"/>
          </a:p>
        </p:txBody>
      </p:sp>
      <p:sp>
        <p:nvSpPr>
          <p:cNvPr id="47" name="Shape 33"/>
          <p:cNvSpPr/>
          <p:nvPr/>
        </p:nvSpPr>
        <p:spPr>
          <a:xfrm>
            <a:off x="4287774" y="270662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48" name="Image 12" descr="/home/claude/icons/x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0078" y="2758928"/>
            <a:ext cx="133137" cy="133137"/>
          </a:xfrm>
          <a:prstGeom prst="rect">
            <a:avLst/>
          </a:prstGeom>
        </p:spPr>
      </p:pic>
      <p:sp>
        <p:nvSpPr>
          <p:cNvPr id="49" name="Shape 34"/>
          <p:cNvSpPr/>
          <p:nvPr/>
        </p:nvSpPr>
        <p:spPr>
          <a:xfrm>
            <a:off x="5602986" y="2706624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50" name="Image 13" descr="/home/claude/icons/che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5290" y="2758928"/>
            <a:ext cx="133137" cy="133137"/>
          </a:xfrm>
          <a:prstGeom prst="rect">
            <a:avLst/>
          </a:prstGeom>
        </p:spPr>
      </p:pic>
      <p:sp>
        <p:nvSpPr>
          <p:cNvPr id="51" name="Shape 35"/>
          <p:cNvSpPr/>
          <p:nvPr/>
        </p:nvSpPr>
        <p:spPr>
          <a:xfrm>
            <a:off x="6918198" y="270662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52" name="Image 14" descr="/home/claude/icons/x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70502" y="2758928"/>
            <a:ext cx="133137" cy="133137"/>
          </a:xfrm>
          <a:prstGeom prst="rect">
            <a:avLst/>
          </a:prstGeom>
        </p:spPr>
      </p:pic>
      <p:sp>
        <p:nvSpPr>
          <p:cNvPr id="53" name="Shape 36"/>
          <p:cNvSpPr/>
          <p:nvPr/>
        </p:nvSpPr>
        <p:spPr>
          <a:xfrm>
            <a:off x="8233410" y="2706624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54" name="Image 15" descr="/home/claude/icons/che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85714" y="2758928"/>
            <a:ext cx="133137" cy="133137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9548622" y="2706624"/>
            <a:ext cx="237744" cy="237744"/>
          </a:xfrm>
          <a:prstGeom prst="ellipse">
            <a:avLst/>
          </a:prstGeom>
          <a:solidFill>
            <a:srgbClr val="BE8A1D"/>
          </a:solidFill>
          <a:ln/>
        </p:spPr>
      </p:sp>
      <p:pic>
        <p:nvPicPr>
          <p:cNvPr id="56" name="Image 16" descr="/home/claude/icons/minus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00926" y="2758928"/>
            <a:ext cx="133137" cy="133137"/>
          </a:xfrm>
          <a:prstGeom prst="rect">
            <a:avLst/>
          </a:prstGeom>
        </p:spPr>
      </p:pic>
      <p:sp>
        <p:nvSpPr>
          <p:cNvPr id="57" name="Shape 38"/>
          <p:cNvSpPr/>
          <p:nvPr/>
        </p:nvSpPr>
        <p:spPr>
          <a:xfrm>
            <a:off x="10863834" y="2706624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58" name="Image 17" descr="/home/claude/icons/che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16138" y="2758928"/>
            <a:ext cx="133137" cy="133137"/>
          </a:xfrm>
          <a:prstGeom prst="rect">
            <a:avLst/>
          </a:prstGeom>
        </p:spPr>
      </p:pic>
      <p:sp>
        <p:nvSpPr>
          <p:cNvPr id="59" name="Shape 39"/>
          <p:cNvSpPr/>
          <p:nvPr/>
        </p:nvSpPr>
        <p:spPr>
          <a:xfrm>
            <a:off x="548640" y="3026664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4F8FC"/>
          </a:solidFill>
          <a:ln/>
        </p:spPr>
      </p:sp>
      <p:sp>
        <p:nvSpPr>
          <p:cNvPr id="60" name="Shape 40"/>
          <p:cNvSpPr/>
          <p:nvPr/>
        </p:nvSpPr>
        <p:spPr>
          <a:xfrm>
            <a:off x="10325100" y="3026664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61" name="Text 41"/>
          <p:cNvSpPr/>
          <p:nvPr/>
        </p:nvSpPr>
        <p:spPr>
          <a:xfrm>
            <a:off x="685800" y="3026664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1050" dirty="0"/>
          </a:p>
        </p:txBody>
      </p:sp>
      <p:sp>
        <p:nvSpPr>
          <p:cNvPr id="62" name="Shape 42"/>
          <p:cNvSpPr/>
          <p:nvPr/>
        </p:nvSpPr>
        <p:spPr>
          <a:xfrm>
            <a:off x="4287774" y="3108960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3" name="Image 18" descr="/home/claude/icons/che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40078" y="3161264"/>
            <a:ext cx="133137" cy="133137"/>
          </a:xfrm>
          <a:prstGeom prst="rect">
            <a:avLst/>
          </a:prstGeom>
        </p:spPr>
      </p:pic>
      <p:sp>
        <p:nvSpPr>
          <p:cNvPr id="64" name="Shape 43"/>
          <p:cNvSpPr/>
          <p:nvPr/>
        </p:nvSpPr>
        <p:spPr>
          <a:xfrm>
            <a:off x="5602986" y="3108960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5" name="Image 19" descr="/home/claude/icons/check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55290" y="3161264"/>
            <a:ext cx="133137" cy="133137"/>
          </a:xfrm>
          <a:prstGeom prst="rect">
            <a:avLst/>
          </a:prstGeom>
        </p:spPr>
      </p:pic>
      <p:sp>
        <p:nvSpPr>
          <p:cNvPr id="66" name="Shape 44"/>
          <p:cNvSpPr/>
          <p:nvPr/>
        </p:nvSpPr>
        <p:spPr>
          <a:xfrm>
            <a:off x="6918198" y="3108960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67" name="Image 20" descr="/home/claude/icons/x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70502" y="3161264"/>
            <a:ext cx="133137" cy="133137"/>
          </a:xfrm>
          <a:prstGeom prst="rect">
            <a:avLst/>
          </a:prstGeom>
        </p:spPr>
      </p:pic>
      <p:sp>
        <p:nvSpPr>
          <p:cNvPr id="68" name="Shape 45"/>
          <p:cNvSpPr/>
          <p:nvPr/>
        </p:nvSpPr>
        <p:spPr>
          <a:xfrm>
            <a:off x="8233410" y="3108960"/>
            <a:ext cx="237744" cy="237744"/>
          </a:xfrm>
          <a:prstGeom prst="ellipse">
            <a:avLst/>
          </a:prstGeom>
          <a:solidFill>
            <a:srgbClr val="BE8A1D"/>
          </a:solidFill>
          <a:ln/>
        </p:spPr>
      </p:sp>
      <p:pic>
        <p:nvPicPr>
          <p:cNvPr id="69" name="Image 21" descr="/home/claude/icons/minus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85714" y="3161264"/>
            <a:ext cx="133137" cy="133137"/>
          </a:xfrm>
          <a:prstGeom prst="rect">
            <a:avLst/>
          </a:prstGeom>
        </p:spPr>
      </p:pic>
      <p:sp>
        <p:nvSpPr>
          <p:cNvPr id="70" name="Shape 46"/>
          <p:cNvSpPr/>
          <p:nvPr/>
        </p:nvSpPr>
        <p:spPr>
          <a:xfrm>
            <a:off x="9548622" y="3108960"/>
            <a:ext cx="237744" cy="237744"/>
          </a:xfrm>
          <a:prstGeom prst="ellipse">
            <a:avLst/>
          </a:prstGeom>
          <a:solidFill>
            <a:srgbClr val="BE8A1D"/>
          </a:solidFill>
          <a:ln/>
        </p:spPr>
      </p:sp>
      <p:pic>
        <p:nvPicPr>
          <p:cNvPr id="71" name="Image 22" descr="/home/claude/icons/minus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0926" y="3161264"/>
            <a:ext cx="133137" cy="133137"/>
          </a:xfrm>
          <a:prstGeom prst="rect">
            <a:avLst/>
          </a:prstGeom>
        </p:spPr>
      </p:pic>
      <p:sp>
        <p:nvSpPr>
          <p:cNvPr id="72" name="Shape 47"/>
          <p:cNvSpPr/>
          <p:nvPr/>
        </p:nvSpPr>
        <p:spPr>
          <a:xfrm>
            <a:off x="10863834" y="3108960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3" name="Image 23" descr="/home/claude/icons/check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16138" y="3161264"/>
            <a:ext cx="133137" cy="133137"/>
          </a:xfrm>
          <a:prstGeom prst="rect">
            <a:avLst/>
          </a:prstGeom>
        </p:spPr>
      </p:pic>
      <p:sp>
        <p:nvSpPr>
          <p:cNvPr id="74" name="Shape 48"/>
          <p:cNvSpPr/>
          <p:nvPr/>
        </p:nvSpPr>
        <p:spPr>
          <a:xfrm>
            <a:off x="548640" y="3429000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75" name="Shape 49"/>
          <p:cNvSpPr/>
          <p:nvPr/>
        </p:nvSpPr>
        <p:spPr>
          <a:xfrm>
            <a:off x="10325100" y="3429000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76" name="Text 50"/>
          <p:cNvSpPr/>
          <p:nvPr/>
        </p:nvSpPr>
        <p:spPr>
          <a:xfrm>
            <a:off x="685800" y="3429000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(Android+iOS)</a:t>
            </a:r>
            <a:endParaRPr lang="en-US" sz="1050" dirty="0"/>
          </a:p>
        </p:txBody>
      </p:sp>
      <p:sp>
        <p:nvSpPr>
          <p:cNvPr id="77" name="Shape 51"/>
          <p:cNvSpPr/>
          <p:nvPr/>
        </p:nvSpPr>
        <p:spPr>
          <a:xfrm>
            <a:off x="4287774" y="3511296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78" name="Image 24" descr="/home/claude/icons/check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40078" y="3563600"/>
            <a:ext cx="133137" cy="133137"/>
          </a:xfrm>
          <a:prstGeom prst="rect">
            <a:avLst/>
          </a:prstGeom>
        </p:spPr>
      </p:pic>
      <p:sp>
        <p:nvSpPr>
          <p:cNvPr id="79" name="Shape 52"/>
          <p:cNvSpPr/>
          <p:nvPr/>
        </p:nvSpPr>
        <p:spPr>
          <a:xfrm>
            <a:off x="5602986" y="3511296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80" name="Image 25" descr="/home/claude/icons/x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55290" y="3563600"/>
            <a:ext cx="133137" cy="133137"/>
          </a:xfrm>
          <a:prstGeom prst="rect">
            <a:avLst/>
          </a:prstGeom>
        </p:spPr>
      </p:pic>
      <p:sp>
        <p:nvSpPr>
          <p:cNvPr id="81" name="Shape 53"/>
          <p:cNvSpPr/>
          <p:nvPr/>
        </p:nvSpPr>
        <p:spPr>
          <a:xfrm>
            <a:off x="6918198" y="3511296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2" name="Image 26" descr="/home/claude/icons/check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70502" y="3563600"/>
            <a:ext cx="133137" cy="133137"/>
          </a:xfrm>
          <a:prstGeom prst="rect">
            <a:avLst/>
          </a:prstGeom>
        </p:spPr>
      </p:pic>
      <p:sp>
        <p:nvSpPr>
          <p:cNvPr id="83" name="Shape 54"/>
          <p:cNvSpPr/>
          <p:nvPr/>
        </p:nvSpPr>
        <p:spPr>
          <a:xfrm>
            <a:off x="8233410" y="3511296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4" name="Image 27" descr="/home/claude/icons/check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5714" y="3563600"/>
            <a:ext cx="133137" cy="133137"/>
          </a:xfrm>
          <a:prstGeom prst="rect">
            <a:avLst/>
          </a:prstGeom>
        </p:spPr>
      </p:pic>
      <p:sp>
        <p:nvSpPr>
          <p:cNvPr id="85" name="Shape 55"/>
          <p:cNvSpPr/>
          <p:nvPr/>
        </p:nvSpPr>
        <p:spPr>
          <a:xfrm>
            <a:off x="9548622" y="3511296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86" name="Image 28" descr="/home/claude/icons/x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600926" y="3563600"/>
            <a:ext cx="133137" cy="133137"/>
          </a:xfrm>
          <a:prstGeom prst="rect">
            <a:avLst/>
          </a:prstGeom>
        </p:spPr>
      </p:pic>
      <p:sp>
        <p:nvSpPr>
          <p:cNvPr id="87" name="Shape 56"/>
          <p:cNvSpPr/>
          <p:nvPr/>
        </p:nvSpPr>
        <p:spPr>
          <a:xfrm>
            <a:off x="10863834" y="3511296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8" name="Image 29" descr="/home/claude/icons/check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16138" y="3563600"/>
            <a:ext cx="133137" cy="133137"/>
          </a:xfrm>
          <a:prstGeom prst="rect">
            <a:avLst/>
          </a:prstGeom>
        </p:spPr>
      </p:pic>
      <p:sp>
        <p:nvSpPr>
          <p:cNvPr id="89" name="Shape 57"/>
          <p:cNvSpPr/>
          <p:nvPr/>
        </p:nvSpPr>
        <p:spPr>
          <a:xfrm>
            <a:off x="548640" y="3831336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4F8FC"/>
          </a:solidFill>
          <a:ln/>
        </p:spPr>
      </p:sp>
      <p:sp>
        <p:nvSpPr>
          <p:cNvPr id="90" name="Shape 58"/>
          <p:cNvSpPr/>
          <p:nvPr/>
        </p:nvSpPr>
        <p:spPr>
          <a:xfrm>
            <a:off x="10325100" y="3831336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91" name="Text 59"/>
          <p:cNvSpPr/>
          <p:nvPr/>
        </p:nvSpPr>
        <p:spPr>
          <a:xfrm>
            <a:off x="685800" y="3831336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message history</a:t>
            </a:r>
            <a:endParaRPr lang="en-US" sz="1050" dirty="0"/>
          </a:p>
        </p:txBody>
      </p:sp>
      <p:sp>
        <p:nvSpPr>
          <p:cNvPr id="92" name="Shape 60"/>
          <p:cNvSpPr/>
          <p:nvPr/>
        </p:nvSpPr>
        <p:spPr>
          <a:xfrm>
            <a:off x="4287774" y="391363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93" name="Image 30" descr="/home/claude/icons/check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40078" y="3965936"/>
            <a:ext cx="133137" cy="133137"/>
          </a:xfrm>
          <a:prstGeom prst="rect">
            <a:avLst/>
          </a:prstGeom>
        </p:spPr>
      </p:pic>
      <p:sp>
        <p:nvSpPr>
          <p:cNvPr id="94" name="Shape 61"/>
          <p:cNvSpPr/>
          <p:nvPr/>
        </p:nvSpPr>
        <p:spPr>
          <a:xfrm>
            <a:off x="5602986" y="391363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95" name="Image 31" descr="/home/claude/icons/check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55290" y="3965936"/>
            <a:ext cx="133137" cy="133137"/>
          </a:xfrm>
          <a:prstGeom prst="rect">
            <a:avLst/>
          </a:prstGeom>
        </p:spPr>
      </p:pic>
      <p:sp>
        <p:nvSpPr>
          <p:cNvPr id="96" name="Shape 62"/>
          <p:cNvSpPr/>
          <p:nvPr/>
        </p:nvSpPr>
        <p:spPr>
          <a:xfrm>
            <a:off x="6918198" y="3913632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97" name="Image 32" descr="/home/claude/icons/x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70502" y="3965936"/>
            <a:ext cx="133137" cy="133137"/>
          </a:xfrm>
          <a:prstGeom prst="rect">
            <a:avLst/>
          </a:prstGeom>
        </p:spPr>
      </p:pic>
      <p:sp>
        <p:nvSpPr>
          <p:cNvPr id="98" name="Shape 63"/>
          <p:cNvSpPr/>
          <p:nvPr/>
        </p:nvSpPr>
        <p:spPr>
          <a:xfrm>
            <a:off x="8233410" y="3913632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99" name="Image 33" descr="/home/claude/icons/x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285714" y="3965936"/>
            <a:ext cx="133137" cy="133137"/>
          </a:xfrm>
          <a:prstGeom prst="rect">
            <a:avLst/>
          </a:prstGeom>
        </p:spPr>
      </p:pic>
      <p:sp>
        <p:nvSpPr>
          <p:cNvPr id="100" name="Shape 64"/>
          <p:cNvSpPr/>
          <p:nvPr/>
        </p:nvSpPr>
        <p:spPr>
          <a:xfrm>
            <a:off x="9548622" y="3913632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01" name="Image 34" descr="/home/claude/icons/x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600926" y="3965936"/>
            <a:ext cx="133137" cy="133137"/>
          </a:xfrm>
          <a:prstGeom prst="rect">
            <a:avLst/>
          </a:prstGeom>
        </p:spPr>
      </p:pic>
      <p:sp>
        <p:nvSpPr>
          <p:cNvPr id="102" name="Shape 65"/>
          <p:cNvSpPr/>
          <p:nvPr/>
        </p:nvSpPr>
        <p:spPr>
          <a:xfrm>
            <a:off x="10863834" y="3913632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3" name="Image 35" descr="/home/claude/icons/check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16138" y="3965936"/>
            <a:ext cx="133137" cy="133137"/>
          </a:xfrm>
          <a:prstGeom prst="rect">
            <a:avLst/>
          </a:prstGeom>
        </p:spPr>
      </p:pic>
      <p:sp>
        <p:nvSpPr>
          <p:cNvPr id="104" name="Shape 66"/>
          <p:cNvSpPr/>
          <p:nvPr/>
        </p:nvSpPr>
        <p:spPr>
          <a:xfrm>
            <a:off x="548640" y="4233672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05" name="Shape 67"/>
          <p:cNvSpPr/>
          <p:nvPr/>
        </p:nvSpPr>
        <p:spPr>
          <a:xfrm>
            <a:off x="10325100" y="4233672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106" name="Text 68"/>
          <p:cNvSpPr/>
          <p:nvPr/>
        </p:nvSpPr>
        <p:spPr>
          <a:xfrm>
            <a:off x="685800" y="4233672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050" dirty="0"/>
          </a:p>
        </p:txBody>
      </p:sp>
      <p:sp>
        <p:nvSpPr>
          <p:cNvPr id="107" name="Shape 69"/>
          <p:cNvSpPr/>
          <p:nvPr/>
        </p:nvSpPr>
        <p:spPr>
          <a:xfrm>
            <a:off x="4287774" y="431596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8" name="Image 36" descr="/home/claude/icons/check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40078" y="4368272"/>
            <a:ext cx="133137" cy="133137"/>
          </a:xfrm>
          <a:prstGeom prst="rect">
            <a:avLst/>
          </a:prstGeom>
        </p:spPr>
      </p:pic>
      <p:sp>
        <p:nvSpPr>
          <p:cNvPr id="109" name="Shape 70"/>
          <p:cNvSpPr/>
          <p:nvPr/>
        </p:nvSpPr>
        <p:spPr>
          <a:xfrm>
            <a:off x="5602986" y="431596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0" name="Image 37" descr="/home/claude/icons/check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55290" y="4368272"/>
            <a:ext cx="133137" cy="133137"/>
          </a:xfrm>
          <a:prstGeom prst="rect">
            <a:avLst/>
          </a:prstGeom>
        </p:spPr>
      </p:pic>
      <p:sp>
        <p:nvSpPr>
          <p:cNvPr id="111" name="Shape 71"/>
          <p:cNvSpPr/>
          <p:nvPr/>
        </p:nvSpPr>
        <p:spPr>
          <a:xfrm>
            <a:off x="6918198" y="4315968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12" name="Image 38" descr="/home/claude/icons/x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970502" y="4368272"/>
            <a:ext cx="133137" cy="133137"/>
          </a:xfrm>
          <a:prstGeom prst="rect">
            <a:avLst/>
          </a:prstGeom>
        </p:spPr>
      </p:pic>
      <p:sp>
        <p:nvSpPr>
          <p:cNvPr id="113" name="Shape 72"/>
          <p:cNvSpPr/>
          <p:nvPr/>
        </p:nvSpPr>
        <p:spPr>
          <a:xfrm>
            <a:off x="8233410" y="4315968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14" name="Image 39" descr="/home/claude/icons/x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285714" y="4368272"/>
            <a:ext cx="133137" cy="133137"/>
          </a:xfrm>
          <a:prstGeom prst="rect">
            <a:avLst/>
          </a:prstGeom>
        </p:spPr>
      </p:pic>
      <p:sp>
        <p:nvSpPr>
          <p:cNvPr id="115" name="Shape 73"/>
          <p:cNvSpPr/>
          <p:nvPr/>
        </p:nvSpPr>
        <p:spPr>
          <a:xfrm>
            <a:off x="9548622" y="4315968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16" name="Image 40" descr="/home/claude/icons/x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600926" y="4368272"/>
            <a:ext cx="133137" cy="133137"/>
          </a:xfrm>
          <a:prstGeom prst="rect">
            <a:avLst/>
          </a:prstGeom>
        </p:spPr>
      </p:pic>
      <p:sp>
        <p:nvSpPr>
          <p:cNvPr id="117" name="Shape 74"/>
          <p:cNvSpPr/>
          <p:nvPr/>
        </p:nvSpPr>
        <p:spPr>
          <a:xfrm>
            <a:off x="10863834" y="4315968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18" name="Image 41" descr="/home/claude/icons/check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916138" y="4368272"/>
            <a:ext cx="133137" cy="133137"/>
          </a:xfrm>
          <a:prstGeom prst="rect">
            <a:avLst/>
          </a:prstGeom>
        </p:spPr>
      </p:pic>
      <p:sp>
        <p:nvSpPr>
          <p:cNvPr id="119" name="Shape 75"/>
          <p:cNvSpPr/>
          <p:nvPr/>
        </p:nvSpPr>
        <p:spPr>
          <a:xfrm>
            <a:off x="548640" y="4636008"/>
            <a:ext cx="11091672" cy="402336"/>
          </a:xfrm>
          <a:prstGeom prst="roundRect">
            <a:avLst>
              <a:gd name="adj" fmla="val 18182"/>
            </a:avLst>
          </a:prstGeom>
          <a:solidFill>
            <a:srgbClr val="F4F8FC"/>
          </a:solidFill>
          <a:ln/>
        </p:spPr>
      </p:sp>
      <p:sp>
        <p:nvSpPr>
          <p:cNvPr id="120" name="Shape 76"/>
          <p:cNvSpPr/>
          <p:nvPr/>
        </p:nvSpPr>
        <p:spPr>
          <a:xfrm>
            <a:off x="10325100" y="4636008"/>
            <a:ext cx="1315212" cy="402336"/>
          </a:xfrm>
          <a:prstGeom prst="roundRect">
            <a:avLst>
              <a:gd name="adj" fmla="val 18182"/>
            </a:avLst>
          </a:prstGeom>
          <a:solidFill>
            <a:srgbClr val="E4F7FB"/>
          </a:solidFill>
          <a:ln/>
        </p:spPr>
      </p:sp>
      <p:sp>
        <p:nvSpPr>
          <p:cNvPr id="121" name="Text 77"/>
          <p:cNvSpPr/>
          <p:nvPr/>
        </p:nvSpPr>
        <p:spPr>
          <a:xfrm>
            <a:off x="685800" y="463600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</a:t>
            </a:r>
            <a:endParaRPr lang="en-US" sz="1050" dirty="0"/>
          </a:p>
        </p:txBody>
      </p:sp>
      <p:sp>
        <p:nvSpPr>
          <p:cNvPr id="122" name="Shape 78"/>
          <p:cNvSpPr/>
          <p:nvPr/>
        </p:nvSpPr>
        <p:spPr>
          <a:xfrm>
            <a:off x="4287774" y="471830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23" name="Image 42" descr="/home/claude/icons/x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40078" y="4770608"/>
            <a:ext cx="133137" cy="133137"/>
          </a:xfrm>
          <a:prstGeom prst="rect">
            <a:avLst/>
          </a:prstGeom>
        </p:spPr>
      </p:pic>
      <p:sp>
        <p:nvSpPr>
          <p:cNvPr id="124" name="Shape 79"/>
          <p:cNvSpPr/>
          <p:nvPr/>
        </p:nvSpPr>
        <p:spPr>
          <a:xfrm>
            <a:off x="5602986" y="471830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25" name="Image 43" descr="/home/claude/icons/x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655290" y="4770608"/>
            <a:ext cx="133137" cy="133137"/>
          </a:xfrm>
          <a:prstGeom prst="rect">
            <a:avLst/>
          </a:prstGeom>
        </p:spPr>
      </p:pic>
      <p:sp>
        <p:nvSpPr>
          <p:cNvPr id="126" name="Shape 80"/>
          <p:cNvSpPr/>
          <p:nvPr/>
        </p:nvSpPr>
        <p:spPr>
          <a:xfrm>
            <a:off x="6918198" y="471830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27" name="Image 44" descr="/home/claude/icons/x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970502" y="4770608"/>
            <a:ext cx="133137" cy="133137"/>
          </a:xfrm>
          <a:prstGeom prst="rect">
            <a:avLst/>
          </a:prstGeom>
        </p:spPr>
      </p:pic>
      <p:sp>
        <p:nvSpPr>
          <p:cNvPr id="128" name="Shape 81"/>
          <p:cNvSpPr/>
          <p:nvPr/>
        </p:nvSpPr>
        <p:spPr>
          <a:xfrm>
            <a:off x="8233410" y="471830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29" name="Image 45" descr="/home/claude/icons/x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285714" y="4770608"/>
            <a:ext cx="133137" cy="133137"/>
          </a:xfrm>
          <a:prstGeom prst="rect">
            <a:avLst/>
          </a:prstGeom>
        </p:spPr>
      </p:pic>
      <p:sp>
        <p:nvSpPr>
          <p:cNvPr id="130" name="Shape 82"/>
          <p:cNvSpPr/>
          <p:nvPr/>
        </p:nvSpPr>
        <p:spPr>
          <a:xfrm>
            <a:off x="9548622" y="4718304"/>
            <a:ext cx="237744" cy="237744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131" name="Image 46" descr="/home/claude/icons/x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600926" y="4770608"/>
            <a:ext cx="133137" cy="133137"/>
          </a:xfrm>
          <a:prstGeom prst="rect">
            <a:avLst/>
          </a:prstGeom>
        </p:spPr>
      </p:pic>
      <p:sp>
        <p:nvSpPr>
          <p:cNvPr id="132" name="Shape 83"/>
          <p:cNvSpPr/>
          <p:nvPr/>
        </p:nvSpPr>
        <p:spPr>
          <a:xfrm>
            <a:off x="10863834" y="4718304"/>
            <a:ext cx="237744" cy="23774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3" name="Image 47" descr="/home/claude/icons/check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916138" y="4770608"/>
            <a:ext cx="133137" cy="133137"/>
          </a:xfrm>
          <a:prstGeom prst="rect">
            <a:avLst/>
          </a:prstGeom>
        </p:spPr>
      </p:pic>
      <p:sp>
        <p:nvSpPr>
          <p:cNvPr id="134" name="Shape 84"/>
          <p:cNvSpPr/>
          <p:nvPr/>
        </p:nvSpPr>
        <p:spPr>
          <a:xfrm>
            <a:off x="548640" y="523951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35" name="Text 85"/>
          <p:cNvSpPr/>
          <p:nvPr/>
        </p:nvSpPr>
        <p:spPr>
          <a:xfrm>
            <a:off x="822960" y="523951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No existing system combines cross-platform BLE-only operation, proper X25519 key agreement, on-device history, and safety-number verification in one open-source app for both Android and iOS.</a:t>
            </a:r>
            <a:endParaRPr lang="en-US" sz="1100" dirty="0"/>
          </a:p>
        </p:txBody>
      </p:sp>
      <p:sp>
        <p:nvSpPr>
          <p:cNvPr id="136" name="Text 86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137" name="Text 87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NearbyChat — Layered Architecture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SetupScreen · NearbyPeopleScreen · ConversationScreen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9624" y="2089404"/>
            <a:ext cx="256032" cy="25603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0" name="Image 0" descr="/home/claude/icons/arrow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6192" y="2155972"/>
            <a:ext cx="122895" cy="1228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48640" y="2359152"/>
            <a:ext cx="6858000" cy="621792"/>
          </a:xfrm>
          <a:prstGeom prst="roundRect">
            <a:avLst>
              <a:gd name="adj" fmla="val 11765"/>
            </a:avLst>
          </a:prstGeom>
          <a:solidFill>
            <a:srgbClr val="00B8D9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5915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ChatController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651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BLE transport, crypto, history &amp; peer state — streams peers and messages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49624" y="2985516"/>
            <a:ext cx="256032" cy="25603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5" name="Image 1" descr="/home/claude/icons/arr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192" y="3052084"/>
            <a:ext cx="122895" cy="12289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3255264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3328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CryptoService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85800" y="35844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keys · AES-GCM-256 · Safety number · AAD auth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069080" y="3255264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06240" y="33284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HistoryStore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206240" y="3584448"/>
            <a:ext cx="3063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per peer · 500-msg rolling window · sorted by timestamp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849624" y="4037076"/>
            <a:ext cx="256032" cy="25603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3" name="Image 2" descr="/home/claude/icons/arrow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192" y="4103644"/>
            <a:ext cx="122895" cy="1228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48640" y="4306824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5" name="Text 20"/>
          <p:cNvSpPr/>
          <p:nvPr/>
        </p:nvSpPr>
        <p:spPr>
          <a:xfrm>
            <a:off x="731520" y="437997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Transport Layer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731520" y="467258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role (GATT server, advertise NC-&lt;name&gt;)   ·   Central role (scan, connect, read, write)   ·   FrameCodec fragment/reassemble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849624" y="5225796"/>
            <a:ext cx="256032" cy="25603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8" name="Image 3" descr="/home/claude/icons/arrow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192" y="5292364"/>
            <a:ext cx="122895" cy="12289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8640" y="5495544"/>
            <a:ext cx="6858000" cy="548640"/>
          </a:xfrm>
          <a:prstGeom prst="roundRect">
            <a:avLst>
              <a:gd name="adj" fmla="val 13333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54955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Store — flutter_secure_storage → X25519 keypair (persisted, hardware-backed)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635240" y="14630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635240" y="187452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836408" y="207568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4" name="Image 4" descr="/home/claude/icons/gitmer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194560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41248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BLE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836408" y="2587752"/>
            <a:ext cx="3575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is simultaneously a GATT server and client, so either side can initiate discovery.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635240" y="3447288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836408" y="364845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9" name="Image 5" descr="/home/claude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767328"/>
            <a:ext cx="219456" cy="21945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412480" y="36301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7836408" y="4160520"/>
            <a:ext cx="3575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stack — discovery, key exchange, delivery, history — runs without any network infrastructure.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7635240" y="5020056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7836408" y="522122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4" name="Image 6" descr="/home/claude/icons/lay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5340096"/>
            <a:ext cx="219456" cy="21945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412480" y="52029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7836408" y="5733288"/>
            <a:ext cx="3575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enables identical logic, encryption, and UI on both Android and iOS.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8" name="Text 39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 Peer Discovery &amp; GATT Transport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phones find each other without a server — Alice advertises, Bob scans and connects.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3736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169164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startAdvertising() — NC-Alice, Service UUID c0de0001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12264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15798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→ ALICE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21122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found → connect()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532888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7860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78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→ ALICE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23160" y="253288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discoverServices() → read(identityChar)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53512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9923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99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95351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username, publicKey } JSON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74136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41985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4198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23160" y="3374136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taps "Alice"; Alice encrypts &amp; fragments message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794760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84048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840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→ BOB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23160" y="379476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write(inboxChar, frame0), write(inboxChar, frame1) …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15384"/>
            <a:ext cx="11091672" cy="347472"/>
          </a:xfrm>
          <a:prstGeom prst="roundRect">
            <a:avLst>
              <a:gd name="adj" fmla="val 15789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26110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2611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23160" y="421538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FrameReassembler → ChatEnvelope.decode() → decrypt()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745736"/>
            <a:ext cx="5431536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85546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SERVICE LAYOUT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" y="5129784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c0de0001   ·   Identity char (READ)   ·   Inbox char (WRITE)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08776" y="4745736"/>
            <a:ext cx="5431536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6391656" y="485546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FRAGMENTATION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91656" y="5129784"/>
            <a:ext cx="5065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8-byte header + 12-byte payload per BLE write — safe for the 20-byte ATT minimum MTU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X25519 + AES-GCM Encryption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 without a key server — both sides derive an identical shared secret.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31536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56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0" descr="/home/claud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75104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2075688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keypair generated once, stored in secure storage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08776" y="1691640"/>
            <a:ext cx="5431536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3368" y="1856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75104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40296" y="181051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940296" y="2075688"/>
            <a:ext cx="3968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keypair generated once, stored in secure storage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2596896"/>
            <a:ext cx="11091672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2596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publicKey_A  — via BLE read →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309360" y="2596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publicKey_B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309981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0B8D9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319125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sharedSecret = X25519(privA, pubB)  =  X25519(privB, pubA)   —   identical on both sides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22960" y="355701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messageKey = SHA-256( "nearbychat-v1"  ||  sharedSecret 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1513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4334256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465015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463040" y="4261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Number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1463040" y="455371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safetyNumber = SHA-256(sharedSecret).first6bytes  →  "a3-f7-2c-10-b8-44"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949440" y="42793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users independently compare this fingerprint in person to detect a man-in-the-middle key substitution.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48640" y="5202936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0" name="Shape 25"/>
          <p:cNvSpPr/>
          <p:nvPr/>
        </p:nvSpPr>
        <p:spPr>
          <a:xfrm>
            <a:off x="713232" y="53492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1" name="Image 3" descr="/home/claude/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46811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80160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280160" y="556869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AES-GCM-256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4306824" y="5202936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5" name="Shape 29"/>
          <p:cNvSpPr/>
          <p:nvPr/>
        </p:nvSpPr>
        <p:spPr>
          <a:xfrm>
            <a:off x="4471416" y="53492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6" name="Image 4" descr="/home/claude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5468112"/>
            <a:ext cx="219456" cy="21945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38344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5038344" y="556869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128-bit auth tag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8065008" y="5202936"/>
            <a:ext cx="3575304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40" name="Shape 33"/>
          <p:cNvSpPr/>
          <p:nvPr/>
        </p:nvSpPr>
        <p:spPr>
          <a:xfrm>
            <a:off x="8229600" y="53492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41" name="Image 5" descr="/home/claude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5468112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796528" y="52943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Secrecy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8796528" y="556869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DH — keys never leave device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On-Device History &amp; Identity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local storage without a cloud — two stores, two trust levels.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31536" cy="18288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9" name="Image 0" descr="/home/claude/icons/harddr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23567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4767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63040" y="2240280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77240" y="2606040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private key (base64)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public key (base64)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 (Android) / Secure Enclave (iOS)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08776" y="1691640"/>
            <a:ext cx="5431536" cy="1828800"/>
          </a:xfrm>
          <a:prstGeom prst="roundRect">
            <a:avLst>
              <a:gd name="adj" fmla="val 4000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37376" y="1892808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1" descr="/home/claude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2023567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23176" y="1947672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Preferences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123176" y="2240280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shared_preferences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437376" y="2606040"/>
            <a:ext cx="4974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history, keyed per peer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"nearbychat.history.&lt;fingerprint&gt;"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array of ChatMessage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500 messages, sorted by sentAt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48640" y="3749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LIFECYCLE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4041648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6656" y="4169664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2" name="Text 18"/>
          <p:cNvSpPr/>
          <p:nvPr/>
        </p:nvSpPr>
        <p:spPr>
          <a:xfrm>
            <a:off x="676656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051560" y="4096512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Keypair generated on first launch, stored permanently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367278" y="4041648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495294" y="4169664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6" name="Text 22"/>
          <p:cNvSpPr/>
          <p:nvPr/>
        </p:nvSpPr>
        <p:spPr>
          <a:xfrm>
            <a:off x="3495294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3870198" y="4096512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set by user, stored in secure storage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85916" y="4041648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13932" y="4169664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0" name="Text 26"/>
          <p:cNvSpPr/>
          <p:nvPr/>
        </p:nvSpPr>
        <p:spPr>
          <a:xfrm>
            <a:off x="6313932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6688836" y="4096512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publicKey becomes the stable peer ID; fingerprint = first 12 chars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9004554" y="4041648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132570" y="4169664"/>
            <a:ext cx="292608" cy="292608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4" name="Text 30"/>
          <p:cNvSpPr/>
          <p:nvPr/>
        </p:nvSpPr>
        <p:spPr>
          <a:xfrm>
            <a:off x="913257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9507474" y="4096512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keyed by fingerprint — survives username changes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48640" y="50017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B2A4A"/>
          </a:solidFill>
          <a:ln/>
        </p:spPr>
      </p:sp>
      <p:sp>
        <p:nvSpPr>
          <p:cNvPr id="37" name="Text 33"/>
          <p:cNvSpPr/>
          <p:nvPr/>
        </p:nvSpPr>
        <p:spPr>
          <a:xfrm>
            <a:off x="822960" y="50932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ChatMessage  { id, sender, recipient, body, sentAt, isMine }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822960" y="54589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UUID v4  ·  sender/recipient: username strings  ·  body: decrypted plaintext  ·  sentAt: ISO 8601 UTC  ·  isMine: bubble alignment flag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Frameworks &amp; Libraries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306324"/>
          </a:xfrm>
          <a:prstGeom prst="roundRect">
            <a:avLst>
              <a:gd name="adj" fmla="val 14925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Library / 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23644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23644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1723644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Dart 3.x (Null-safe, strongly typed)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4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29968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23360" y="2029968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3.44+ (Material 3, Dark Mode)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336292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36292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2336292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 7.0+ (API 21) / iOS 13.0+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642616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4F8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42616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— Central Role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2642616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universal_ble ^2.2.0 (scan / connect / read / write)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48940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948940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— Peripheral Role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2948940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universal_ble ^2.2.0 (UniversalBlePeripheral)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55264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4F8F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255264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3255264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cryptography ^2.7.0 (X25519, AES-GCM, SHA-256)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561588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561588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Storage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23360" y="3561588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flutter_secure_storage ^9.2.2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867912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4F8FC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867912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3867912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shared_preferences ^2.3.2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174236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174236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Message IDs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4174236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^4.5.1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480560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4F8FC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480560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Permissions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4480560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permission_handler ^11.3.1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786884"/>
            <a:ext cx="11091672" cy="306324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786884"/>
            <a:ext cx="3108960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4786884"/>
            <a:ext cx="7434072" cy="306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Gradle (Android) / Xcode + CocoaPods (iOS)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294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FLUTTER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605272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5678424"/>
            <a:ext cx="2635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40080" y="6080760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codebase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67278" y="5605272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47" name="Text 45"/>
          <p:cNvSpPr/>
          <p:nvPr/>
        </p:nvSpPr>
        <p:spPr>
          <a:xfrm>
            <a:off x="3367278" y="5678424"/>
            <a:ext cx="2635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3458718" y="6080760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code reuse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5916" y="5605272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6185916" y="5678424"/>
            <a:ext cx="2635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277356" y="6080760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04554" y="5605272"/>
            <a:ext cx="2635758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53" name="Text 51"/>
          <p:cNvSpPr/>
          <p:nvPr/>
        </p:nvSpPr>
        <p:spPr>
          <a:xfrm>
            <a:off x="9004554" y="5678424"/>
            <a:ext cx="2635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Pixel-identical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9095994" y="6080760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on both platforms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 — 5 Phases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072030" cy="4709160"/>
          </a:xfrm>
          <a:prstGeom prst="roundRect">
            <a:avLst>
              <a:gd name="adj" fmla="val 3530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09928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706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Scaffold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170627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create (Android + iOS)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— add all packages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permissions in manifests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minSdk 21, targetSdk 35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03550" y="1508760"/>
            <a:ext cx="2072030" cy="4709160"/>
          </a:xfrm>
          <a:prstGeom prst="roundRect">
            <a:avLst>
              <a:gd name="adj" fmla="val 3530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86430" y="1709928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14" name="Text 12"/>
          <p:cNvSpPr/>
          <p:nvPr/>
        </p:nvSpPr>
        <p:spPr>
          <a:xfrm>
            <a:off x="298643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86430" y="2286000"/>
            <a:ext cx="1706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86430" y="2487168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 Transport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86430" y="3017520"/>
            <a:ext cx="170627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Peripheral: advertise NC-&lt;name&gt;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GATT server — identity + inbox chars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Central: scan, connect, read identity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FrameCodec fragment / reassemble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58461" y="1508760"/>
            <a:ext cx="2072030" cy="4709160"/>
          </a:xfrm>
          <a:prstGeom prst="roundRect">
            <a:avLst>
              <a:gd name="adj" fmla="val 3530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41341" y="1709928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241341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41341" y="2286000"/>
            <a:ext cx="1706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241341" y="2487168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41341" y="3017520"/>
            <a:ext cx="170627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keypair generation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secret derivation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AES-GCM-256 encrypt / decrypt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number + identity persistence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3371" y="1508760"/>
            <a:ext cx="2072030" cy="4709160"/>
          </a:xfrm>
          <a:prstGeom prst="roundRect">
            <a:avLst>
              <a:gd name="adj" fmla="val 3530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6251" y="1709928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6251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6251" y="2286000"/>
            <a:ext cx="1706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496251" y="2487168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6251" y="3017520"/>
            <a:ext cx="170627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SetupScreen — username entry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NearbyPeopleScreen — live peer list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ConversationScreen — chat bubbles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number banner, dark mode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68282" y="1508760"/>
            <a:ext cx="2072030" cy="4709160"/>
          </a:xfrm>
          <a:prstGeom prst="roundRect">
            <a:avLst>
              <a:gd name="adj" fmla="val 3530"/>
            </a:avLst>
          </a:prstGeom>
          <a:solidFill>
            <a:srgbClr val="1B2A4A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51162" y="1709928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9751162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51162" y="2286000"/>
            <a:ext cx="17062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9751162" y="2487168"/>
            <a:ext cx="17062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Testing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51162" y="3017520"/>
            <a:ext cx="170627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all layers via ChatController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— 0 errors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Two-device E2E encryption test</a:t>
            </a:r>
            <a:endParaRPr lang="en-US" sz="900" dirty="0"/>
          </a:p>
          <a:p>
            <a:pPr marL="342900" indent="-342900">
              <a:lnSpc>
                <a:spcPct val="135000"/>
              </a:lnSpc>
              <a:buSzPct val="100000"/>
              <a:buChar char="✦"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persistence + BLE retry test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1091672" y="292608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1091672" y="292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0350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Security Analysis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1–4 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peer discovery (same room)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24684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497836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200–800 ms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97836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delivery latency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00728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373880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80–200 ms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73880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message latency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6772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249924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49924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overhead (500-char msg)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52816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8125968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ms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5968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load (500 messages)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928860" y="1463040"/>
            <a:ext cx="1711452" cy="1005840"/>
          </a:xfrm>
          <a:prstGeom prst="roundRect">
            <a:avLst>
              <a:gd name="adj" fmla="val 7273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02012" y="1572768"/>
            <a:ext cx="15651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10–30 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02012" y="2011680"/>
            <a:ext cx="15651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range (line-of-sight)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154680"/>
            <a:ext cx="5454396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3319272"/>
            <a:ext cx="457200" cy="457200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27" name="Image 0" descr="/home/claude/icons/ey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3438144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98448" y="3246120"/>
            <a:ext cx="4539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eavesdropping on BLE radio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298448" y="3538728"/>
            <a:ext cx="4539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payloads AES-GCM encrypted; plaintext never touches the radio.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185916" y="3154680"/>
            <a:ext cx="5454396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50508" y="3319272"/>
            <a:ext cx="457200" cy="457200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32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3438144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935724" y="3246120"/>
            <a:ext cx="4539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Man-in-the-middle key substitution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935724" y="3538728"/>
            <a:ext cx="4539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number comparison — attacker cannot forge the shared secret without the private key.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548640" y="4160520"/>
            <a:ext cx="5454396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13232" y="4325112"/>
            <a:ext cx="457200" cy="457200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37" name="Image 2" descr="/home/claude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443984"/>
            <a:ext cx="219456" cy="219456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298448" y="4251960"/>
            <a:ext cx="4539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replay / tampering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1298448" y="4544568"/>
            <a:ext cx="4539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UUID + AAD binds ciphertext to sender/timestamp; GCM auth tag rejects modification.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185916" y="4160520"/>
            <a:ext cx="5454396" cy="868680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7E3F0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350508" y="4325112"/>
            <a:ext cx="457200" cy="457200"/>
          </a:xfrm>
          <a:prstGeom prst="ellipse">
            <a:avLst/>
          </a:prstGeom>
          <a:solidFill>
            <a:srgbClr val="B23A45"/>
          </a:solidFill>
          <a:ln/>
        </p:spPr>
      </p:sp>
      <p:pic>
        <p:nvPicPr>
          <p:cNvPr id="42" name="Image 3" descr="/home/claude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380" y="4443984"/>
            <a:ext cx="219456" cy="21945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935724" y="4251960"/>
            <a:ext cx="45399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extraction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935724" y="4544568"/>
            <a:ext cx="45399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held in Android Keystore / iOS Secure Enclave — hardware-backed.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411480"/>
            <a:ext cx="731520" cy="731520"/>
          </a:xfrm>
          <a:prstGeom prst="ellipse">
            <a:avLst/>
          </a:prstGeom>
          <a:ln w="12700">
            <a:solidFill>
              <a:srgbClr val="3A4E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91440"/>
            <a:ext cx="1371600" cy="1371600"/>
          </a:xfrm>
          <a:prstGeom prst="ellipse">
            <a:avLst/>
          </a:prstGeom>
          <a:ln w="12700">
            <a:solidFill>
              <a:srgbClr val="3245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&amp; Future Scope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NearbyChat is a cross-platform (Android + iOS) Bluetooth-only direct messaging app built with Flutter. It lets two people within BLE range exchange fully encrypted, server-free, account-free messages using X25519 key agreement, AES-GCM-256 encryption, and SHA-256 safety numbers — all from a single shared codebase.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2086661" cy="1600200"/>
          </a:xfrm>
          <a:prstGeom prst="roundRect">
            <a:avLst>
              <a:gd name="adj" fmla="val 5143"/>
            </a:avLst>
          </a:prstGeom>
          <a:solidFill>
            <a:srgbClr val="223257"/>
          </a:solidFill>
          <a:ln/>
        </p:spPr>
      </p:sp>
      <p:sp>
        <p:nvSpPr>
          <p:cNvPr id="9" name="Shape 7"/>
          <p:cNvSpPr/>
          <p:nvPr/>
        </p:nvSpPr>
        <p:spPr>
          <a:xfrm>
            <a:off x="713232" y="2761488"/>
            <a:ext cx="438912" cy="43891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0" name="Image 0" descr="/home/claude/icons/gitme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49" y="2875605"/>
            <a:ext cx="210678" cy="21067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178101" y="2761488"/>
            <a:ext cx="292608" cy="292608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12" name="Text 9"/>
          <p:cNvSpPr/>
          <p:nvPr/>
        </p:nvSpPr>
        <p:spPr>
          <a:xfrm>
            <a:off x="2178101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" y="3291840"/>
            <a:ext cx="1757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Mesh Relay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13232" y="3712464"/>
            <a:ext cx="1757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messages through intermediate peers to extend range beyond 30 m.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799893" y="2578608"/>
            <a:ext cx="2086661" cy="1600200"/>
          </a:xfrm>
          <a:prstGeom prst="roundRect">
            <a:avLst>
              <a:gd name="adj" fmla="val 5143"/>
            </a:avLst>
          </a:prstGeom>
          <a:solidFill>
            <a:srgbClr val="223257"/>
          </a:solidFill>
          <a:ln/>
        </p:spPr>
      </p:sp>
      <p:sp>
        <p:nvSpPr>
          <p:cNvPr id="16" name="Shape 13"/>
          <p:cNvSpPr/>
          <p:nvPr/>
        </p:nvSpPr>
        <p:spPr>
          <a:xfrm>
            <a:off x="2964485" y="2761488"/>
            <a:ext cx="438912" cy="43891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17" name="Image 1" descr="/home/claude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602" y="2875605"/>
            <a:ext cx="210678" cy="21067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429354" y="2761488"/>
            <a:ext cx="292608" cy="292608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19" name="Text 15"/>
          <p:cNvSpPr/>
          <p:nvPr/>
        </p:nvSpPr>
        <p:spPr>
          <a:xfrm>
            <a:off x="4429354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964485" y="3291840"/>
            <a:ext cx="1757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Cryptography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964485" y="3712464"/>
            <a:ext cx="1757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ML-KEM (Kyber) + X25519 key agreement to resist quantum attacks.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051146" y="2578608"/>
            <a:ext cx="2086661" cy="1600200"/>
          </a:xfrm>
          <a:prstGeom prst="roundRect">
            <a:avLst>
              <a:gd name="adj" fmla="val 5143"/>
            </a:avLst>
          </a:prstGeom>
          <a:solidFill>
            <a:srgbClr val="223257"/>
          </a:solidFill>
          <a:ln/>
        </p:spPr>
      </p:sp>
      <p:sp>
        <p:nvSpPr>
          <p:cNvPr id="23" name="Shape 19"/>
          <p:cNvSpPr/>
          <p:nvPr/>
        </p:nvSpPr>
        <p:spPr>
          <a:xfrm>
            <a:off x="5215738" y="2761488"/>
            <a:ext cx="438912" cy="43891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24" name="Image 2" descr="/home/claude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855" y="2875605"/>
            <a:ext cx="210678" cy="21067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680606" y="2761488"/>
            <a:ext cx="292608" cy="292608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26" name="Text 21"/>
          <p:cNvSpPr/>
          <p:nvPr/>
        </p:nvSpPr>
        <p:spPr>
          <a:xfrm>
            <a:off x="6680606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215738" y="3291840"/>
            <a:ext cx="1757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Identity Mode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215738" y="3712464"/>
            <a:ext cx="1757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BLE name and public key per session to prevent long-term tracking.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7302398" y="2578608"/>
            <a:ext cx="2086661" cy="1600200"/>
          </a:xfrm>
          <a:prstGeom prst="roundRect">
            <a:avLst>
              <a:gd name="adj" fmla="val 5143"/>
            </a:avLst>
          </a:prstGeom>
          <a:solidFill>
            <a:srgbClr val="223257"/>
          </a:solidFill>
          <a:ln/>
        </p:spPr>
      </p:sp>
      <p:sp>
        <p:nvSpPr>
          <p:cNvPr id="30" name="Shape 25"/>
          <p:cNvSpPr/>
          <p:nvPr/>
        </p:nvSpPr>
        <p:spPr>
          <a:xfrm>
            <a:off x="7466990" y="2761488"/>
            <a:ext cx="438912" cy="43891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1" name="Image 3" descr="/home/claude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108" y="2875605"/>
            <a:ext cx="210678" cy="21067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8931859" y="2761488"/>
            <a:ext cx="292608" cy="292608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33" name="Text 27"/>
          <p:cNvSpPr/>
          <p:nvPr/>
        </p:nvSpPr>
        <p:spPr>
          <a:xfrm>
            <a:off x="8931859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7466990" y="3291840"/>
            <a:ext cx="1757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Messaging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7466990" y="3712464"/>
            <a:ext cx="1757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GATT service for multi-party key distribution, staying BLE-only.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9553651" y="2578608"/>
            <a:ext cx="2086661" cy="1600200"/>
          </a:xfrm>
          <a:prstGeom prst="roundRect">
            <a:avLst>
              <a:gd name="adj" fmla="val 5143"/>
            </a:avLst>
          </a:prstGeom>
          <a:solidFill>
            <a:srgbClr val="223257"/>
          </a:solidFill>
          <a:ln/>
        </p:spPr>
      </p:sp>
      <p:sp>
        <p:nvSpPr>
          <p:cNvPr id="37" name="Shape 31"/>
          <p:cNvSpPr/>
          <p:nvPr/>
        </p:nvSpPr>
        <p:spPr>
          <a:xfrm>
            <a:off x="9718243" y="2761488"/>
            <a:ext cx="438912" cy="438912"/>
          </a:xfrm>
          <a:prstGeom prst="ellipse">
            <a:avLst/>
          </a:prstGeom>
          <a:solidFill>
            <a:srgbClr val="00B8D9"/>
          </a:solidFill>
          <a:ln/>
        </p:spPr>
      </p:sp>
      <p:pic>
        <p:nvPicPr>
          <p:cNvPr id="38" name="Image 4" descr="/home/claude/icons/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360" y="2875605"/>
            <a:ext cx="210678" cy="21067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11183112" y="2761488"/>
            <a:ext cx="292608" cy="292608"/>
          </a:xfrm>
          <a:prstGeom prst="ellipse">
            <a:avLst/>
          </a:prstGeom>
          <a:solidFill>
            <a:srgbClr val="2A3D66"/>
          </a:solidFill>
          <a:ln/>
        </p:spPr>
      </p:sp>
      <p:sp>
        <p:nvSpPr>
          <p:cNvPr id="40" name="Text 33"/>
          <p:cNvSpPr/>
          <p:nvPr/>
        </p:nvSpPr>
        <p:spPr>
          <a:xfrm>
            <a:off x="11183112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9718243" y="3291840"/>
            <a:ext cx="17574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Message Queue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9718243" y="3712464"/>
            <a:ext cx="17574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outgoing messages and auto-deliver on the next BLE encounter (DTN).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548640" y="4526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4" name="Text 37"/>
          <p:cNvSpPr/>
          <p:nvPr/>
        </p:nvSpPr>
        <p:spPr>
          <a:xfrm>
            <a:off x="54864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Private. Encrypted. No Internet Required.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548640" y="58064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46" name="Text 39"/>
          <p:cNvSpPr/>
          <p:nvPr/>
        </p:nvSpPr>
        <p:spPr>
          <a:xfrm>
            <a:off x="54864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1115568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· 24BCT0155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3657600" y="5806440"/>
            <a:ext cx="457200" cy="457200"/>
          </a:xfrm>
          <a:prstGeom prst="ellipse">
            <a:avLst/>
          </a:prstGeom>
          <a:solidFill>
            <a:srgbClr val="00B8D9"/>
          </a:solidFill>
          <a:ln/>
        </p:spPr>
      </p:sp>
      <p:sp>
        <p:nvSpPr>
          <p:cNvPr id="49" name="Text 42"/>
          <p:cNvSpPr/>
          <p:nvPr/>
        </p:nvSpPr>
        <p:spPr>
          <a:xfrm>
            <a:off x="365760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50" name="Text 43"/>
          <p:cNvSpPr/>
          <p:nvPr/>
        </p:nvSpPr>
        <p:spPr>
          <a:xfrm>
            <a:off x="4224528" y="5879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· 24BKT0060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2026-09-07T05:47:04Z</dcterms:created>
  <dcterms:modified xsi:type="dcterms:W3CDTF">2026-09-07T05:47:04Z</dcterms:modified>
</cp:coreProperties>
</file>